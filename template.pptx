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Montserrat"/>
      <p:bold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/q38YWvvpTSVBGWOfRupuygJn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e43674a2d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e43674a2d_0_10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e43674a2d_0_2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e43674a2d_0_27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e43674a2d_0_3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e43674a2d_0_3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e43674a2d_0_3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e43674a2d_0_3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e43674a2d_0_3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e43674a2d_0_34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676900" y="0"/>
            <a:ext cx="3467100" cy="6858000"/>
          </a:xfrm>
          <a:prstGeom prst="rect">
            <a:avLst/>
          </a:prstGeom>
          <a:solidFill>
            <a:srgbClr val="0A0C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5219700" y="0"/>
            <a:ext cx="552600" cy="6858000"/>
          </a:xfrm>
          <a:prstGeom prst="rect">
            <a:avLst/>
          </a:prstGeom>
          <a:solidFill>
            <a:srgbClr val="11152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943600" y="57245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b="1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="1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b="1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5943600" y="2657475"/>
            <a:ext cx="2857500" cy="1790700"/>
            <a:chOff x="5943600" y="2657475"/>
            <a:chExt cx="2857500" cy="1790700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5943600" y="26574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 Ads</a:t>
              </a:r>
              <a:endParaRPr b="1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platform</a:t>
              </a:r>
              <a:endParaRPr sz="7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5943600" y="32670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  <a:endParaRPr b="1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document type</a:t>
              </a:r>
              <a:endParaRPr sz="7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5943600" y="3876675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2026</a:t>
              </a:r>
              <a:endParaRPr b="1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year</a:t>
              </a:r>
              <a:endParaRPr sz="7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457200" y="4000500"/>
            <a:ext cx="5972175" cy="1524000"/>
            <a:chOff x="457200" y="4000500"/>
            <a:chExt cx="5972175" cy="1524000"/>
          </a:xfrm>
        </p:grpSpPr>
        <p:sp>
          <p:nvSpPr>
            <p:cNvPr id="92" name="Google Shape;92;p1"/>
            <p:cNvSpPr/>
            <p:nvPr/>
          </p:nvSpPr>
          <p:spPr>
            <a:xfrm>
              <a:off x="457200" y="4000500"/>
              <a:ext cx="381000" cy="3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714375" y="4381500"/>
              <a:ext cx="5715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Anand Desai Law</a:t>
              </a:r>
              <a:endParaRPr b="1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Google Ads Audit | 2024 vs 2025-2026</a:t>
              </a:r>
              <a:endParaRPr b="0" sz="1300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Full Advertising Account Strategy</a:t>
              </a:r>
              <a:endParaRPr b="0" sz="1100">
                <a:solidFill>
                  <a:srgbClr val="64748B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504825" y="666750"/>
            <a:ext cx="1371600" cy="362100"/>
          </a:xfrm>
          <a:prstGeom prst="roundRect">
            <a:avLst>
              <a:gd fmla="val 50000" name="adj"/>
            </a:avLst>
          </a:prstGeom>
          <a:solidFill>
            <a:srgbClr val="132040"/>
          </a:solidFill>
          <a:ln cap="flat" cmpd="sng" w="12375">
            <a:solidFill>
              <a:srgbClr val="4F8E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04825" y="666750"/>
            <a:ext cx="1371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F8EF7"/>
                </a:solidFill>
                <a:latin typeface="Montserrat"/>
                <a:ea typeface="Montserrat"/>
                <a:cs typeface="Montserrat"/>
                <a:sym typeface="Montserrat"/>
              </a:rPr>
              <a:t>Audit</a:t>
            </a:r>
            <a:endParaRPr b="1" sz="900">
              <a:solidFill>
                <a:srgbClr val="4F8E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14375" y="1276350"/>
            <a:ext cx="4762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Contextual</a:t>
            </a:r>
            <a:endParaRPr b="1" sz="6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Advertising</a:t>
            </a:r>
            <a:endParaRPr b="1" sz="6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Audit</a:t>
            </a:r>
            <a:endParaRPr b="1" sz="6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14375" y="4191000"/>
            <a:ext cx="4114800" cy="762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232425" y="5780925"/>
            <a:ext cx="1647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tolk.agency</a:t>
            </a:r>
            <a:endParaRPr sz="900">
              <a:solidFill>
                <a:srgbClr val="6474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43674a2d_0_1009"/>
          <p:cNvSpPr/>
          <p:nvPr/>
        </p:nvSpPr>
        <p:spPr>
          <a:xfrm>
            <a:off x="0" y="19050"/>
            <a:ext cx="9144000" cy="771600"/>
          </a:xfrm>
          <a:prstGeom prst="rect">
            <a:avLst/>
          </a:prstGeom>
          <a:solidFill>
            <a:srgbClr val="161A24"/>
          </a:solidFill>
          <a:ln cap="flat" cmpd="sng" w="12375">
            <a:solidFill>
              <a:srgbClr val="161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e43674a2d_0_1009"/>
          <p:cNvSpPr/>
          <p:nvPr/>
        </p:nvSpPr>
        <p:spPr>
          <a:xfrm>
            <a:off x="409575" y="276225"/>
            <a:ext cx="476400" cy="342900"/>
          </a:xfrm>
          <a:prstGeom prst="roundRect">
            <a:avLst>
              <a:gd fmla="val 27777" name="adj"/>
            </a:avLst>
          </a:prstGeom>
          <a:solidFill>
            <a:srgbClr val="4F8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e43674a2d_0_1009"/>
          <p:cNvSpPr txBox="1"/>
          <p:nvPr/>
        </p:nvSpPr>
        <p:spPr>
          <a:xfrm>
            <a:off x="409575" y="276225"/>
            <a:ext cx="4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6" name="Google Shape;106;g3ee43674a2d_0_1009"/>
          <p:cNvGrpSpPr/>
          <p:nvPr/>
        </p:nvGrpSpPr>
        <p:grpSpPr>
          <a:xfrm>
            <a:off x="1000125" y="257175"/>
            <a:ext cx="4286400" cy="381000"/>
            <a:chOff x="1000125" y="257175"/>
            <a:chExt cx="4286400" cy="381000"/>
          </a:xfrm>
        </p:grpSpPr>
        <p:sp>
          <p:nvSpPr>
            <p:cNvPr id="107" name="Google Shape;107;g3ee43674a2d_0_1009"/>
            <p:cNvSpPr/>
            <p:nvPr/>
          </p:nvSpPr>
          <p:spPr>
            <a:xfrm>
              <a:off x="1000125" y="25717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ee43674a2d_0_1009"/>
            <p:cNvSpPr txBox="1"/>
            <p:nvPr/>
          </p:nvSpPr>
          <p:spPr>
            <a:xfrm>
              <a:off x="1000125" y="257175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Strategic Shift (2024 Success vs 2026 Failure)</a:t>
              </a:r>
              <a:endParaRPr b="0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9" name="Google Shape;109;g3ee43674a2d_0_1009"/>
          <p:cNvSpPr/>
          <p:nvPr/>
        </p:nvSpPr>
        <p:spPr>
          <a:xfrm>
            <a:off x="1000125" y="790575"/>
            <a:ext cx="5029200" cy="762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e43674a2d_0_1009"/>
          <p:cNvSpPr txBox="1"/>
          <p:nvPr>
            <p:ph idx="1" type="body"/>
          </p:nvPr>
        </p:nvSpPr>
        <p:spPr>
          <a:xfrm>
            <a:off x="457200" y="1047750"/>
            <a:ext cx="82296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8EF7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4F8EF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2024 (Success Period):</a:t>
            </a:r>
            <a:r>
              <a:rPr b="0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The previous agency heavily localized the account (North Hollywood) and focused on general "Auto Accidents". Total spend was ~$57k with 113 conversions (CPA $510).</a:t>
            </a:r>
            <a:endParaRPr b="0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2025-2026 (Current Period):</a:t>
            </a:r>
            <a:r>
              <a:rPr b="0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The strategy shifted to broad California targeting, heavily focusing on "Truck Accidents" and generic PI. Total spend ~$55k with 155 conversions (CPA $360 on paper, but low quality/rejected cases).</a:t>
            </a:r>
            <a:endParaRPr b="0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Outcome:</a:t>
            </a:r>
            <a:r>
              <a:rPr b="0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The expansion diluted the budget into highly competitive, generic truck auctions, severely decreasing case quality and increasing CPA for relevant cases.</a:t>
            </a:r>
            <a:endParaRPr b="0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g3ee43674a2d_0_1009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00" y="3419625"/>
            <a:ext cx="8839204" cy="1981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0" y="19050"/>
            <a:ext cx="9144000" cy="771600"/>
          </a:xfrm>
          <a:prstGeom prst="rect">
            <a:avLst/>
          </a:prstGeom>
          <a:solidFill>
            <a:srgbClr val="161A24"/>
          </a:solidFill>
          <a:ln cap="flat" cmpd="sng" w="12375">
            <a:solidFill>
              <a:srgbClr val="161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09575" y="276225"/>
            <a:ext cx="476400" cy="342900"/>
          </a:xfrm>
          <a:prstGeom prst="roundRect">
            <a:avLst>
              <a:gd fmla="val 27777" name="adj"/>
            </a:avLst>
          </a:prstGeom>
          <a:solidFill>
            <a:srgbClr val="4F8E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409575" y="276225"/>
            <a:ext cx="4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000125" y="257175"/>
            <a:ext cx="571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Campaigns &amp; Budgets Comparison</a:t>
            </a:r>
            <a:endParaRPr b="0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000125" y="790575"/>
            <a:ext cx="5029200" cy="7620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57200" y="1047750"/>
            <a:ext cx="8229600" cy="238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8EF7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4F8EF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Winning Campaign (2024): </a:t>
            </a: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`Auto Accidents North Hollywood` was the anchor of the account. It spent $44,731 and generated 98 conversions at an efficient $456 CPA.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Failing Campaign (2026): </a:t>
            </a: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`Hoski | Search | Truck Accidents` spent $15,021 but generated only 5 conversions, resulting in an unsustainable $3,004 CPA.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Char char="●"/>
            </a:pPr>
            <a:r>
              <a:rPr b="1" lang="en-US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Conclusion: </a:t>
            </a: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The hyper-specific Truck campaign failed to deploy budget efficiently and risked wrong-intent traffic compared to the successful Auto campaign.</a:t>
            </a:r>
            <a:endParaRPr b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p3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83386"/>
            <a:ext cx="9144003" cy="1317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000125" y="1905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Geographic Targeting Comparison</a:t>
            </a:r>
            <a:endParaRPr b="0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00125" y="619125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5" name="Google Shape;135;p4"/>
          <p:cNvGrpSpPr/>
          <p:nvPr/>
        </p:nvGrpSpPr>
        <p:grpSpPr>
          <a:xfrm>
            <a:off x="457200" y="1333500"/>
            <a:ext cx="3972000" cy="3048000"/>
            <a:chOff x="457200" y="1333500"/>
            <a:chExt cx="3972000" cy="3048000"/>
          </a:xfrm>
        </p:grpSpPr>
        <p:sp>
          <p:nvSpPr>
            <p:cNvPr id="136" name="Google Shape;136;p4"/>
            <p:cNvSpPr/>
            <p:nvPr/>
          </p:nvSpPr>
          <p:spPr>
            <a:xfrm>
              <a:off x="457200" y="1333500"/>
              <a:ext cx="3972000" cy="3048000"/>
            </a:xfrm>
            <a:prstGeom prst="roundRect">
              <a:avLst>
                <a:gd fmla="val 3750" name="adj"/>
              </a:avLst>
            </a:prstGeom>
            <a:solidFill>
              <a:srgbClr val="1E293B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47700" y="1524000"/>
              <a:ext cx="35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2C5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2024: Geo Success (The "Interest" Factor)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Tight geographic "seed" targets combined with Google's natural expansion worked well.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Strategic Seed:</a:t>
              </a: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Specific cities like North Hollywood delivered 10 leads at $385 CPA.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Algorithmic Efficiency:</a:t>
              </a: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88/113 conversions came from "Other locations" at $462 CPA.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Outcome:</a:t>
              </a: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Account successfully used seeds to train Google's algorithm for efficient expansion.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4714875" y="1333500"/>
            <a:ext cx="3972000" cy="3048000"/>
            <a:chOff x="4714875" y="1333500"/>
            <a:chExt cx="3972000" cy="3048000"/>
          </a:xfrm>
        </p:grpSpPr>
        <p:sp>
          <p:nvSpPr>
            <p:cNvPr id="139" name="Google Shape;139;p4"/>
            <p:cNvSpPr/>
            <p:nvPr/>
          </p:nvSpPr>
          <p:spPr>
            <a:xfrm>
              <a:off x="4714875" y="1333500"/>
              <a:ext cx="3972000" cy="3048000"/>
            </a:xfrm>
            <a:prstGeom prst="roundRect">
              <a:avLst>
                <a:gd fmla="val 3750" name="adj"/>
              </a:avLst>
            </a:prstGeom>
            <a:solidFill>
              <a:srgbClr val="1E293B"/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4905375" y="1524000"/>
              <a:ext cx="35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2026: Geo Failure (Forced Broadness)</a:t>
              </a:r>
              <a:endParaRPr b="1" sz="14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Aggressively forcing budget into broad, expensive areas burned resources.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Broad Waste:</a:t>
              </a: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Los Angeles consumed $18,708 at a massive $1,100 CPA.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Zero Return:</a:t>
              </a: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Cities like Norwalk ($1,223) and Glendale ($2,894) yielded only 0-1 conversions.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05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Outcome:</a:t>
              </a: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Explicitly forcing broad targets or expensive zip codes drained the budget.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1" name="Google Shape;141;p4"/>
          <p:cNvGrpSpPr/>
          <p:nvPr/>
        </p:nvGrpSpPr>
        <p:grpSpPr>
          <a:xfrm>
            <a:off x="452438" y="4614863"/>
            <a:ext cx="8239200" cy="909638"/>
            <a:chOff x="452438" y="4614863"/>
            <a:chExt cx="8239200" cy="909638"/>
          </a:xfrm>
        </p:grpSpPr>
        <p:pic>
          <p:nvPicPr>
            <p:cNvPr id="142" name="Google Shape;14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438" y="4614863"/>
              <a:ext cx="8239200" cy="5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4"/>
            <p:cNvSpPr txBox="1"/>
            <p:nvPr/>
          </p:nvSpPr>
          <p:spPr>
            <a:xfrm>
              <a:off x="647700" y="4762500"/>
              <a:ext cx="784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Conclusion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shift from </a:t>
              </a:r>
              <a:r>
                <a:rPr b="1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algorithmic training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(2024) to </a:t>
              </a:r>
              <a:r>
                <a:rPr b="1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manual budget forcing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(2026) resulted in a dramatic loss of efficiency and high CPA spikes in expensive metropolitan areas.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000125" y="1905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Landing Page Comparison</a:t>
            </a:r>
            <a:endParaRPr b="0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000125" y="619125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457200" y="1333500"/>
            <a:ext cx="3972000" cy="3048000"/>
            <a:chOff x="457200" y="1333500"/>
            <a:chExt cx="3972000" cy="3048000"/>
          </a:xfrm>
        </p:grpSpPr>
        <p:sp>
          <p:nvSpPr>
            <p:cNvPr id="156" name="Google Shape;156;p5"/>
            <p:cNvSpPr/>
            <p:nvPr/>
          </p:nvSpPr>
          <p:spPr>
            <a:xfrm>
              <a:off x="457200" y="1333500"/>
              <a:ext cx="3972000" cy="3048000"/>
            </a:xfrm>
            <a:prstGeom prst="roundRect">
              <a:avLst>
                <a:gd fmla="val 3750" name="adj"/>
              </a:avLst>
            </a:prstGeom>
            <a:solidFill>
              <a:srgbClr val="1E293B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647700" y="1524000"/>
              <a:ext cx="35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2C5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Winning Page (2024)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subdomain approach proved highly effective for direct response.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2C55E"/>
                </a:buClr>
                <a:buSzPts val="140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Subdomain Strategy: </a:t>
              </a:r>
              <a:r>
                <a:rPr b="0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Traffic was routed to accident.lawdesai.com.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22C55E"/>
                </a:buClr>
                <a:buSzPts val="140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Performance: </a:t>
              </a:r>
              <a:r>
                <a:rPr b="0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Spent $27,251 to generate 40.5 conversions.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22C55E"/>
                </a:buClr>
                <a:buSzPts val="140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Efficiency: </a:t>
              </a:r>
              <a:r>
                <a:rPr b="0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Delivered an efficient $672 CPA.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8" name="Google Shape;158;p5"/>
          <p:cNvGrpSpPr/>
          <p:nvPr/>
        </p:nvGrpSpPr>
        <p:grpSpPr>
          <a:xfrm>
            <a:off x="4714875" y="1333500"/>
            <a:ext cx="3972000" cy="3048000"/>
            <a:chOff x="4714875" y="1333500"/>
            <a:chExt cx="3972000" cy="3048000"/>
          </a:xfrm>
        </p:grpSpPr>
        <p:sp>
          <p:nvSpPr>
            <p:cNvPr id="159" name="Google Shape;159;p5"/>
            <p:cNvSpPr/>
            <p:nvPr/>
          </p:nvSpPr>
          <p:spPr>
            <a:xfrm>
              <a:off x="4714875" y="1333500"/>
              <a:ext cx="3972000" cy="3048000"/>
            </a:xfrm>
            <a:prstGeom prst="roundRect">
              <a:avLst>
                <a:gd fmla="val 3750" name="adj"/>
              </a:avLst>
            </a:prstGeom>
            <a:solidFill>
              <a:srgbClr val="1E293B"/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4905375" y="1524000"/>
              <a:ext cx="35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Failing Page (2026)</a:t>
              </a:r>
              <a:endParaRPr b="1" sz="14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hyper-specific "Truck" landing page is significantly underperforming.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EF4444"/>
                </a:buClr>
                <a:buSzPts val="140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 Costs: </a:t>
              </a:r>
              <a:r>
                <a:rPr b="0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Spent $10,781 for just 3 conversions ($3,593 CPA).</a:t>
              </a:r>
              <a:endParaRPr b="1" sz="14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EF4444"/>
                </a:buClr>
                <a:buSzPts val="140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Better Alternative: </a:t>
              </a:r>
              <a:r>
                <a:rPr b="0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General page performed better ($1,386 CPA / $12,477 spend).</a:t>
              </a:r>
              <a:endParaRPr b="1" sz="14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EF4444"/>
                </a:buClr>
                <a:buSzPts val="1400"/>
                <a:buFont typeface="Montserrat"/>
                <a:buChar char="●"/>
              </a:pPr>
              <a:r>
                <a:rPr b="1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UX Gap: </a:t>
              </a:r>
              <a:r>
                <a:rPr b="0"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Suffers from poor intent mismatch.</a:t>
              </a:r>
              <a:endParaRPr b="1" sz="14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1" name="Google Shape;161;p5"/>
          <p:cNvGrpSpPr/>
          <p:nvPr/>
        </p:nvGrpSpPr>
        <p:grpSpPr>
          <a:xfrm>
            <a:off x="452438" y="4614863"/>
            <a:ext cx="8239200" cy="957413"/>
            <a:chOff x="452438" y="4614863"/>
            <a:chExt cx="8239200" cy="957413"/>
          </a:xfrm>
        </p:grpSpPr>
        <p:pic>
          <p:nvPicPr>
            <p:cNvPr id="162" name="Google Shape;162;p5"/>
            <p:cNvPicPr preferRelativeResize="0"/>
            <p:nvPr/>
          </p:nvPicPr>
          <p:blipFill rotWithShape="1">
            <a:blip r:embed="rId5">
              <a:alphaModFix/>
            </a:blip>
            <a:srcRect b="0" l="22250" r="22250" t="0"/>
            <a:stretch/>
          </p:blipFill>
          <p:spPr>
            <a:xfrm>
              <a:off x="452438" y="4614863"/>
              <a:ext cx="8239200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5"/>
            <p:cNvSpPr txBox="1"/>
            <p:nvPr/>
          </p:nvSpPr>
          <p:spPr>
            <a:xfrm>
              <a:off x="647700" y="4714875"/>
              <a:ext cx="7848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new "Truck" landing page is either suffering from </a:t>
              </a:r>
              <a:r>
                <a:rPr b="1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wrong intent entirely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compared to the 2024 winning subdomain model.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1" name="Google Shape;171;p6"/>
          <p:cNvGrpSpPr/>
          <p:nvPr/>
        </p:nvGrpSpPr>
        <p:grpSpPr>
          <a:xfrm>
            <a:off x="1000125" y="190500"/>
            <a:ext cx="5715000" cy="466725"/>
            <a:chOff x="1000125" y="190500"/>
            <a:chExt cx="5715000" cy="466725"/>
          </a:xfrm>
        </p:grpSpPr>
        <p:sp>
          <p:nvSpPr>
            <p:cNvPr id="172" name="Google Shape;172;p6"/>
            <p:cNvSpPr txBox="1"/>
            <p:nvPr/>
          </p:nvSpPr>
          <p:spPr>
            <a:xfrm>
              <a:off x="1000125" y="19050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Setup &amp; Budgets</a:t>
              </a:r>
              <a:endParaRPr b="0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1000125" y="619125"/>
              <a:ext cx="50292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6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5" name="Google Shape;175;p6"/>
          <p:cNvGrpSpPr/>
          <p:nvPr/>
        </p:nvGrpSpPr>
        <p:grpSpPr>
          <a:xfrm>
            <a:off x="457200" y="1333500"/>
            <a:ext cx="8229600" cy="1333500"/>
            <a:chOff x="457200" y="1333500"/>
            <a:chExt cx="8229600" cy="1333500"/>
          </a:xfrm>
        </p:grpSpPr>
        <p:sp>
          <p:nvSpPr>
            <p:cNvPr id="176" name="Google Shape;176;p6"/>
            <p:cNvSpPr/>
            <p:nvPr/>
          </p:nvSpPr>
          <p:spPr>
            <a:xfrm>
              <a:off x="457200" y="1333500"/>
              <a:ext cx="8229600" cy="1333500"/>
            </a:xfrm>
            <a:prstGeom prst="roundRect">
              <a:avLst>
                <a:gd fmla="val 8571" name="adj"/>
              </a:avLst>
            </a:prstGeom>
            <a:solidFill>
              <a:srgbClr val="1F2937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647700" y="152400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Account Parameters</a:t>
              </a:r>
              <a:endParaRPr b="1" sz="14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Date Range:</a:t>
              </a:r>
              <a:r>
                <a:rPr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September 1, 2025 – June 22, 2026</a:t>
              </a:r>
              <a:endParaRPr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Campaign Status:</a:t>
              </a:r>
              <a:r>
                <a:rPr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25 campaigns exist. Recent activity heavily utilized PMax and Search, but most high-spending campaigns are currently PAUSED.</a:t>
              </a:r>
              <a:endParaRPr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457200" y="2857500"/>
            <a:ext cx="8229600" cy="1524000"/>
            <a:chOff x="457200" y="2857500"/>
            <a:chExt cx="8229600" cy="1524000"/>
          </a:xfrm>
        </p:grpSpPr>
        <p:sp>
          <p:nvSpPr>
            <p:cNvPr id="179" name="Google Shape;179;p6"/>
            <p:cNvSpPr/>
            <p:nvPr/>
          </p:nvSpPr>
          <p:spPr>
            <a:xfrm>
              <a:off x="457200" y="2857500"/>
              <a:ext cx="8229600" cy="1524000"/>
            </a:xfrm>
            <a:prstGeom prst="roundRect">
              <a:avLst>
                <a:gd fmla="val 7500" name="adj"/>
              </a:avLst>
            </a:prstGeom>
            <a:solidFill>
              <a:srgbClr val="1F2937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647700" y="3048000"/>
              <a:ext cx="7848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2C5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Spend Distribution Analysis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 campaigns dominate the total $55k spend.</a:t>
              </a:r>
              <a:endParaRPr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 Spend:</a:t>
              </a:r>
              <a:r>
                <a:rPr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$45,000</a:t>
              </a:r>
              <a:endParaRPr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PMax Spend:</a:t>
              </a:r>
              <a:r>
                <a:rPr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$10,000</a:t>
              </a:r>
              <a:endParaRPr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457200" y="4572000"/>
            <a:ext cx="8229600" cy="381000"/>
            <a:chOff x="457200" y="4572000"/>
            <a:chExt cx="8229600" cy="381000"/>
          </a:xfrm>
        </p:grpSpPr>
        <p:sp>
          <p:nvSpPr>
            <p:cNvPr id="182" name="Google Shape;182;p6"/>
            <p:cNvSpPr/>
            <p:nvPr/>
          </p:nvSpPr>
          <p:spPr>
            <a:xfrm>
              <a:off x="457200" y="4572000"/>
              <a:ext cx="8229600" cy="381000"/>
            </a:xfrm>
            <a:prstGeom prst="roundRect">
              <a:avLst>
                <a:gd fmla="val 10000" name="adj"/>
              </a:avLst>
            </a:prstGeom>
            <a:solidFill>
              <a:srgbClr val="374151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647700" y="457200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Takeaway:</a:t>
              </a:r>
              <a:r>
                <a:rPr lang="en-US" sz="10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Budget is currently heavily weighted toward Search, while PMax serves as a secondary channel with significant pause activity in high-spend segments.</a:t>
              </a:r>
              <a:endParaRPr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ee43674a2d_0_2758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ee43674a2d_0_275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e43674a2d_0_2758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e43674a2d_0_2758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" name="Google Shape;192;g3ee43674a2d_0_2758"/>
          <p:cNvGrpSpPr/>
          <p:nvPr/>
        </p:nvGrpSpPr>
        <p:grpSpPr>
          <a:xfrm>
            <a:off x="1000125" y="190500"/>
            <a:ext cx="5715000" cy="466725"/>
            <a:chOff x="1000125" y="190500"/>
            <a:chExt cx="5715000" cy="466725"/>
          </a:xfrm>
        </p:grpSpPr>
        <p:sp>
          <p:nvSpPr>
            <p:cNvPr id="193" name="Google Shape;193;g3ee43674a2d_0_2758"/>
            <p:cNvSpPr txBox="1"/>
            <p:nvPr/>
          </p:nvSpPr>
          <p:spPr>
            <a:xfrm>
              <a:off x="1000125" y="19050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2 - Conversion Tracking</a:t>
              </a:r>
              <a:endParaRPr b="0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g3ee43674a2d_0_2758"/>
            <p:cNvSpPr/>
            <p:nvPr/>
          </p:nvSpPr>
          <p:spPr>
            <a:xfrm>
              <a:off x="1000125" y="619125"/>
              <a:ext cx="50292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g3ee43674a2d_0_2758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6" name="Google Shape;196;g3ee43674a2d_0_2758"/>
          <p:cNvGrpSpPr/>
          <p:nvPr/>
        </p:nvGrpSpPr>
        <p:grpSpPr>
          <a:xfrm>
            <a:off x="457200" y="1333500"/>
            <a:ext cx="8229600" cy="2190900"/>
            <a:chOff x="457200" y="1333500"/>
            <a:chExt cx="8229600" cy="2190900"/>
          </a:xfrm>
        </p:grpSpPr>
        <p:sp>
          <p:nvSpPr>
            <p:cNvPr id="197" name="Google Shape;197;g3ee43674a2d_0_2758"/>
            <p:cNvSpPr/>
            <p:nvPr/>
          </p:nvSpPr>
          <p:spPr>
            <a:xfrm>
              <a:off x="457200" y="1333500"/>
              <a:ext cx="8229600" cy="2190900"/>
            </a:xfrm>
            <a:prstGeom prst="roundRect">
              <a:avLst>
                <a:gd fmla="val 5217" name="adj"/>
              </a:avLst>
            </a:prstGeom>
            <a:solidFill>
              <a:srgbClr val="1F2937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g3ee43674a2d_0_2758"/>
            <p:cNvSpPr txBox="1"/>
            <p:nvPr/>
          </p:nvSpPr>
          <p:spPr>
            <a:xfrm>
              <a:off x="647700" y="1524000"/>
              <a:ext cx="7848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Integration &amp; Optimization</a:t>
              </a:r>
              <a:endParaRPr b="1" sz="14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GA4 &amp; CRM Integration: 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Primary conversions focus on micro-actions ("Lead form", “Click to call”, "Calls from ads" - 80+ hits). CRM (GHL) "Qualified Lead" has only 1 conversion.</a:t>
              </a:r>
              <a:endParaRPr b="1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CBD5E1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Missing Tracking: 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Without GHL offline conversion imports, the system cannot optimize for retained cases.</a:t>
              </a:r>
              <a:endParaRPr b="1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9" name="Google Shape;199;g3ee43674a2d_0_2758"/>
          <p:cNvGrpSpPr/>
          <p:nvPr/>
        </p:nvGrpSpPr>
        <p:grpSpPr>
          <a:xfrm>
            <a:off x="457200" y="4857750"/>
            <a:ext cx="8229600" cy="476400"/>
            <a:chOff x="457200" y="4857750"/>
            <a:chExt cx="8229600" cy="476400"/>
          </a:xfrm>
        </p:grpSpPr>
        <p:sp>
          <p:nvSpPr>
            <p:cNvPr id="200" name="Google Shape;200;g3ee43674a2d_0_2758"/>
            <p:cNvSpPr/>
            <p:nvPr/>
          </p:nvSpPr>
          <p:spPr>
            <a:xfrm>
              <a:off x="457200" y="4857750"/>
              <a:ext cx="8229600" cy="476400"/>
            </a:xfrm>
            <a:prstGeom prst="roundRect">
              <a:avLst>
                <a:gd fmla="val 16000" name="adj"/>
              </a:avLst>
            </a:prstGeom>
            <a:solidFill>
              <a:srgbClr val="374151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g3ee43674a2d_0_2758"/>
            <p:cNvSpPr txBox="1"/>
            <p:nvPr/>
          </p:nvSpPr>
          <p:spPr>
            <a:xfrm>
              <a:off x="647700" y="4857750"/>
              <a:ext cx="7848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Takeaway: </a:t>
              </a:r>
              <a:r>
                <a:rPr b="0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reliance on micro-conversions without offline feedback loops prevents the algorithm from bidding on high-value business outcomes.</a:t>
              </a:r>
              <a:endPara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02" name="Google Shape;202;g3ee43674a2d_0_2758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78077"/>
            <a:ext cx="9144003" cy="825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e43674a2d_0_304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e43674a2d_0_3046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e43674a2d_0_3046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0" name="Google Shape;210;g3ee43674a2d_0_3046"/>
          <p:cNvGrpSpPr/>
          <p:nvPr/>
        </p:nvGrpSpPr>
        <p:grpSpPr>
          <a:xfrm>
            <a:off x="1000125" y="190500"/>
            <a:ext cx="5715000" cy="466725"/>
            <a:chOff x="1000125" y="190500"/>
            <a:chExt cx="5715000" cy="466725"/>
          </a:xfrm>
        </p:grpSpPr>
        <p:sp>
          <p:nvSpPr>
            <p:cNvPr id="211" name="Google Shape;211;g3ee43674a2d_0_3046"/>
            <p:cNvSpPr txBox="1"/>
            <p:nvPr/>
          </p:nvSpPr>
          <p:spPr>
            <a:xfrm>
              <a:off x="1000125" y="190500"/>
              <a:ext cx="571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3 - Campaign Settings &amp; Bidding Strategy</a:t>
              </a:r>
              <a:endParaRPr b="0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2" name="Google Shape;212;g3ee43674a2d_0_3046"/>
            <p:cNvSpPr/>
            <p:nvPr/>
          </p:nvSpPr>
          <p:spPr>
            <a:xfrm>
              <a:off x="1000125" y="619125"/>
              <a:ext cx="50292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g3ee43674a2d_0_3046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4" name="Google Shape;214;g3ee43674a2d_0_3046"/>
          <p:cNvGrpSpPr/>
          <p:nvPr/>
        </p:nvGrpSpPr>
        <p:grpSpPr>
          <a:xfrm>
            <a:off x="457200" y="1333500"/>
            <a:ext cx="8229600" cy="1905000"/>
            <a:chOff x="457200" y="1333500"/>
            <a:chExt cx="8229600" cy="1905000"/>
          </a:xfrm>
        </p:grpSpPr>
        <p:sp>
          <p:nvSpPr>
            <p:cNvPr id="215" name="Google Shape;215;g3ee43674a2d_0_3046"/>
            <p:cNvSpPr/>
            <p:nvPr/>
          </p:nvSpPr>
          <p:spPr>
            <a:xfrm>
              <a:off x="457200" y="1333500"/>
              <a:ext cx="8229600" cy="1905000"/>
            </a:xfrm>
            <a:prstGeom prst="roundRect">
              <a:avLst>
                <a:gd fmla="val 6000" name="adj"/>
              </a:avLst>
            </a:prstGeom>
            <a:solidFill>
              <a:srgbClr val="1F2937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g3ee43674a2d_0_3046"/>
            <p:cNvSpPr txBox="1"/>
            <p:nvPr/>
          </p:nvSpPr>
          <p:spPr>
            <a:xfrm>
              <a:off x="647700" y="1524000"/>
              <a:ext cx="7848600" cy="15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Bidding Strategy Analysis</a:t>
              </a:r>
              <a:endParaRPr b="1" sz="14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Problematic Campaign: 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`Hoski | Search | Truck Accidents` - $15k spend, 5 conv running on Maximize Conversions.</a:t>
              </a:r>
              <a:endParaRPr b="1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Issue: </a:t>
              </a: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Lack of CRM feedback (actual "Retained Cases") leads the algorithm to bid on low-quality, top-of-funnel clicks.</a:t>
              </a:r>
              <a:endParaRPr b="1"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7" name="Google Shape;217;g3ee43674a2d_0_3046"/>
          <p:cNvGrpSpPr/>
          <p:nvPr/>
        </p:nvGrpSpPr>
        <p:grpSpPr>
          <a:xfrm>
            <a:off x="457200" y="3429000"/>
            <a:ext cx="8229600" cy="952500"/>
            <a:chOff x="457200" y="3429000"/>
            <a:chExt cx="8229600" cy="952500"/>
          </a:xfrm>
        </p:grpSpPr>
        <p:sp>
          <p:nvSpPr>
            <p:cNvPr id="218" name="Google Shape;218;g3ee43674a2d_0_3046"/>
            <p:cNvSpPr/>
            <p:nvPr/>
          </p:nvSpPr>
          <p:spPr>
            <a:xfrm>
              <a:off x="457200" y="3429000"/>
              <a:ext cx="8229600" cy="952500"/>
            </a:xfrm>
            <a:prstGeom prst="roundRect">
              <a:avLst>
                <a:gd fmla="val 12000" name="adj"/>
              </a:avLst>
            </a:prstGeom>
            <a:solidFill>
              <a:srgbClr val="1F2937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g3ee43674a2d_0_3046"/>
            <p:cNvSpPr txBox="1"/>
            <p:nvPr/>
          </p:nvSpPr>
          <p:spPr>
            <a:xfrm>
              <a:off x="647700" y="3619500"/>
              <a:ext cx="78486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2C5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Networks &amp; Devices</a:t>
              </a:r>
              <a:endParaRPr b="1" sz="1400">
                <a:solidFill>
                  <a:srgbClr val="22C55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Ensure Search Partners are turned off for Search campaigns.</a:t>
              </a:r>
              <a:endParaRPr b="0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20" name="Google Shape;220;g3ee43674a2d_0_3046"/>
          <p:cNvGrpSpPr/>
          <p:nvPr/>
        </p:nvGrpSpPr>
        <p:grpSpPr>
          <a:xfrm>
            <a:off x="457200" y="6191250"/>
            <a:ext cx="8229600" cy="381000"/>
            <a:chOff x="457200" y="6191250"/>
            <a:chExt cx="8229600" cy="381000"/>
          </a:xfrm>
        </p:grpSpPr>
        <p:sp>
          <p:nvSpPr>
            <p:cNvPr id="221" name="Google Shape;221;g3ee43674a2d_0_3046"/>
            <p:cNvSpPr/>
            <p:nvPr/>
          </p:nvSpPr>
          <p:spPr>
            <a:xfrm>
              <a:off x="457200" y="6191250"/>
              <a:ext cx="8229600" cy="381000"/>
            </a:xfrm>
            <a:prstGeom prst="roundRect">
              <a:avLst>
                <a:gd fmla="val 10000" name="adj"/>
              </a:avLst>
            </a:prstGeom>
            <a:solidFill>
              <a:srgbClr val="374151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g3ee43674a2d_0_3046"/>
            <p:cNvSpPr txBox="1"/>
            <p:nvPr/>
          </p:nvSpPr>
          <p:spPr>
            <a:xfrm>
              <a:off x="647700" y="6191250"/>
              <a:ext cx="7848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Takeaway: </a:t>
              </a:r>
              <a:r>
                <a:rPr b="0" lang="en-US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Without a signals feedback loop, Google's algorithm cannot distinguish between a $3,000 "bad" click and a high-value lead.</a:t>
              </a:r>
              <a:endParaRPr b="1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23" name="Google Shape;223;g3ee43674a2d_0_304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77225"/>
            <a:ext cx="9144003" cy="161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e43674a2d_0_323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e43674a2d_0_3239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e43674a2d_0_3239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b="1"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1" name="Google Shape;231;g3ee43674a2d_0_3239"/>
          <p:cNvGrpSpPr/>
          <p:nvPr/>
        </p:nvGrpSpPr>
        <p:grpSpPr>
          <a:xfrm>
            <a:off x="1000125" y="190500"/>
            <a:ext cx="5715000" cy="466725"/>
            <a:chOff x="1000125" y="190500"/>
            <a:chExt cx="5715000" cy="466725"/>
          </a:xfrm>
        </p:grpSpPr>
        <p:sp>
          <p:nvSpPr>
            <p:cNvPr id="232" name="Google Shape;232;g3ee43674a2d_0_3239"/>
            <p:cNvSpPr txBox="1"/>
            <p:nvPr/>
          </p:nvSpPr>
          <p:spPr>
            <a:xfrm>
              <a:off x="1000125" y="19050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4 - Keywords, Search Terms &amp; Negatives</a:t>
              </a:r>
              <a:endParaRPr b="0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3" name="Google Shape;233;g3ee43674a2d_0_3239"/>
            <p:cNvSpPr/>
            <p:nvPr/>
          </p:nvSpPr>
          <p:spPr>
            <a:xfrm>
              <a:off x="1000125" y="619125"/>
              <a:ext cx="5029200" cy="381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g3ee43674a2d_0_3239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5" name="Google Shape;235;g3ee43674a2d_0_3239"/>
          <p:cNvGrpSpPr/>
          <p:nvPr/>
        </p:nvGrpSpPr>
        <p:grpSpPr>
          <a:xfrm>
            <a:off x="457200" y="1333500"/>
            <a:ext cx="8229600" cy="1714500"/>
            <a:chOff x="457200" y="1333500"/>
            <a:chExt cx="8229600" cy="1714500"/>
          </a:xfrm>
        </p:grpSpPr>
        <p:sp>
          <p:nvSpPr>
            <p:cNvPr id="236" name="Google Shape;236;g3ee43674a2d_0_3239"/>
            <p:cNvSpPr/>
            <p:nvPr/>
          </p:nvSpPr>
          <p:spPr>
            <a:xfrm>
              <a:off x="457200" y="1333500"/>
              <a:ext cx="82296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g3ee43674a2d_0_3239"/>
            <p:cNvSpPr txBox="1"/>
            <p:nvPr/>
          </p:nvSpPr>
          <p:spPr>
            <a:xfrm>
              <a:off x="647700" y="1524000"/>
              <a:ext cx="78486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Keyword Strategy Analysis</a:t>
              </a:r>
              <a:endParaRPr b="1" sz="14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Active Keywords:</a:t>
              </a:r>
              <a:r>
                <a:rPr b="1" lang="en-US" sz="11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account relies heavily on Phrase and Exa</a:t>
              </a:r>
              <a:r>
                <a:rPr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ct </a:t>
              </a:r>
              <a:r>
                <a:rPr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Match. The ad group structure requires optimization. There is a specific ad group overloaded with over 100 keywords, which destroys ad relevance for those queries. Furthermore, identical keywords are running simultaneously across different match types, leading to internal competition. • </a:t>
              </a:r>
              <a:br>
                <a:rPr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Negative Lists:</a:t>
              </a:r>
              <a:r>
                <a:rPr b="1" lang="en-US" sz="11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While the account has massive negative lists, they missed the specific generic truck terms banned by the Playbook. As a result, terms like "truck driver attorneys" spent $990 with 0 conversions.</a:t>
              </a:r>
              <a:endParaRPr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t/>
              </a:r>
              <a:endParaRPr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38" name="Google Shape;238;g3ee43674a2d_0_3239"/>
          <p:cNvGrpSpPr/>
          <p:nvPr/>
        </p:nvGrpSpPr>
        <p:grpSpPr>
          <a:xfrm>
            <a:off x="457200" y="3129876"/>
            <a:ext cx="8229600" cy="1312621"/>
            <a:chOff x="457200" y="3238500"/>
            <a:chExt cx="8229600" cy="762000"/>
          </a:xfrm>
        </p:grpSpPr>
        <p:sp>
          <p:nvSpPr>
            <p:cNvPr id="239" name="Google Shape;239;g3ee43674a2d_0_3239"/>
            <p:cNvSpPr/>
            <p:nvPr/>
          </p:nvSpPr>
          <p:spPr>
            <a:xfrm>
              <a:off x="457200" y="3238500"/>
              <a:ext cx="8229600" cy="762000"/>
            </a:xfrm>
            <a:prstGeom prst="roundRect">
              <a:avLst>
                <a:gd fmla="val 15000" name="adj"/>
              </a:avLst>
            </a:prstGeom>
            <a:solidFill>
              <a:srgbClr val="FEF2F2"/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g3ee43674a2d_0_3239"/>
            <p:cNvSpPr txBox="1"/>
            <p:nvPr/>
          </p:nvSpPr>
          <p:spPr>
            <a:xfrm>
              <a:off x="647700" y="3385145"/>
              <a:ext cx="7848600" cy="5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91C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Action Required</a:t>
              </a:r>
              <a:endParaRPr b="1" sz="1400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</a:t>
              </a: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Update global negatives with the exact generic truck terms.</a:t>
              </a:r>
              <a:endParaRPr sz="11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Completely restructure the overloaded ad group by breaking it into High-Intent clusters.</a:t>
              </a:r>
              <a:endParaRPr sz="11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Structure Strategy: Either implement an Alpha/Beta campaign structure (separating Exact and Phrase match with strict cross-negatives) if using Manual CPC, OR pause the exact match duplicates, leave only Phrase match, and transition the bidding to Target CPA.</a:t>
              </a:r>
              <a:endParaRPr sz="11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241" name="Google Shape;241;g3ee43674a2d_0_3239" title="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23725"/>
            <a:ext cx="9625349" cy="333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e43674a2d_0_342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e43674a2d_0_3427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e43674a2d_0_3427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endParaRPr b="1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g3ee43674a2d_0_3427"/>
          <p:cNvSpPr txBox="1"/>
          <p:nvPr/>
        </p:nvSpPr>
        <p:spPr>
          <a:xfrm>
            <a:off x="1000125" y="190500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5 - Ads, Assets &amp; Ad Strength</a:t>
            </a:r>
            <a:endParaRPr b="0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g3ee43674a2d_0_3427"/>
          <p:cNvSpPr/>
          <p:nvPr/>
        </p:nvSpPr>
        <p:spPr>
          <a:xfrm>
            <a:off x="1000125" y="619125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e43674a2d_0_3427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2" name="Google Shape;252;g3ee43674a2d_0_3427"/>
          <p:cNvGrpSpPr/>
          <p:nvPr/>
        </p:nvGrpSpPr>
        <p:grpSpPr>
          <a:xfrm>
            <a:off x="457200" y="1333500"/>
            <a:ext cx="8229600" cy="1333500"/>
            <a:chOff x="457200" y="1333500"/>
            <a:chExt cx="8229600" cy="1333500"/>
          </a:xfrm>
        </p:grpSpPr>
        <p:sp>
          <p:nvSpPr>
            <p:cNvPr id="253" name="Google Shape;253;g3ee43674a2d_0_3427"/>
            <p:cNvSpPr/>
            <p:nvPr/>
          </p:nvSpPr>
          <p:spPr>
            <a:xfrm>
              <a:off x="457200" y="1333500"/>
              <a:ext cx="82296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g3ee43674a2d_0_3427"/>
            <p:cNvSpPr txBox="1"/>
            <p:nvPr/>
          </p:nvSpPr>
          <p:spPr>
            <a:xfrm>
              <a:off x="647700" y="152400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 Ad Strength Analysis</a:t>
              </a:r>
              <a:endParaRPr b="1" sz="14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Status:</a:t>
              </a:r>
              <a:r>
                <a:rPr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Almost all RSAs have a "Good" Ad Strength. While "Excellent" is the goal, "Good" is sufficient and not the root cause of high CPAs.</a:t>
              </a:r>
              <a:endParaRPr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55" name="Google Shape;255;g3ee43674a2d_0_3427"/>
          <p:cNvGrpSpPr/>
          <p:nvPr/>
        </p:nvGrpSpPr>
        <p:grpSpPr>
          <a:xfrm>
            <a:off x="457200" y="2857500"/>
            <a:ext cx="8229600" cy="1905000"/>
            <a:chOff x="457200" y="2857500"/>
            <a:chExt cx="8229600" cy="1905000"/>
          </a:xfrm>
        </p:grpSpPr>
        <p:sp>
          <p:nvSpPr>
            <p:cNvPr id="256" name="Google Shape;256;g3ee43674a2d_0_3427"/>
            <p:cNvSpPr/>
            <p:nvPr/>
          </p:nvSpPr>
          <p:spPr>
            <a:xfrm>
              <a:off x="457200" y="2857500"/>
              <a:ext cx="8229600" cy="1905000"/>
            </a:xfrm>
            <a:prstGeom prst="roundRect">
              <a:avLst>
                <a:gd fmla="val 6000" name="adj"/>
              </a:avLst>
            </a:prstGeom>
            <a:solidFill>
              <a:srgbClr val="FEF2F2"/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g3ee43674a2d_0_3427"/>
            <p:cNvSpPr txBox="1"/>
            <p:nvPr/>
          </p:nvSpPr>
          <p:spPr>
            <a:xfrm>
              <a:off x="647700" y="3048000"/>
              <a:ext cx="78486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91C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PMax Asset Groups Issue</a:t>
              </a:r>
              <a:endParaRPr b="1" sz="1400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Problem:</a:t>
              </a: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Algorithm is failing to deliver quality cases despite Video assets being present.</a:t>
              </a:r>
              <a:endParaRPr sz="11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Root Cause:</a:t>
              </a: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CRM offline tracking didn’t track. PMax is aggressively optimizing for cheap, low-intent micro-conversions (Display/Search Partners) instead of retained clients.</a:t>
              </a:r>
              <a:endParaRPr sz="11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58" name="Google Shape;258;g3ee43674a2d_0_3427"/>
          <p:cNvGrpSpPr/>
          <p:nvPr/>
        </p:nvGrpSpPr>
        <p:grpSpPr>
          <a:xfrm>
            <a:off x="457200" y="4953000"/>
            <a:ext cx="8229600" cy="571500"/>
            <a:chOff x="457200" y="4953000"/>
            <a:chExt cx="8229600" cy="571500"/>
          </a:xfrm>
        </p:grpSpPr>
        <p:sp>
          <p:nvSpPr>
            <p:cNvPr id="259" name="Google Shape;259;g3ee43674a2d_0_3427"/>
            <p:cNvSpPr/>
            <p:nvPr/>
          </p:nvSpPr>
          <p:spPr>
            <a:xfrm>
              <a:off x="457200" y="4953000"/>
              <a:ext cx="8229600" cy="571500"/>
            </a:xfrm>
            <a:prstGeom prst="roundRect">
              <a:avLst>
                <a:gd fmla="val 2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g3ee43674a2d_0_3427"/>
            <p:cNvSpPr txBox="1"/>
            <p:nvPr/>
          </p:nvSpPr>
          <p:spPr>
            <a:xfrm>
              <a:off x="647700" y="495300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Urgent Action: Fix CRM offline conversion tracking to re-align PMax optimization towards lead quality.</a:t>
              </a:r>
              <a:endPara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1000125" y="190500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6 - Extensions (Assets)</a:t>
            </a:r>
            <a:endParaRPr b="0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000125" y="619125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1" name="Google Shape;271;p11"/>
          <p:cNvGrpSpPr/>
          <p:nvPr/>
        </p:nvGrpSpPr>
        <p:grpSpPr>
          <a:xfrm>
            <a:off x="457200" y="1333500"/>
            <a:ext cx="8229600" cy="1428900"/>
            <a:chOff x="457200" y="1333500"/>
            <a:chExt cx="8229600" cy="1428900"/>
          </a:xfrm>
        </p:grpSpPr>
        <p:sp>
          <p:nvSpPr>
            <p:cNvPr id="272" name="Google Shape;272;p11"/>
            <p:cNvSpPr/>
            <p:nvPr/>
          </p:nvSpPr>
          <p:spPr>
            <a:xfrm>
              <a:off x="457200" y="1333500"/>
              <a:ext cx="82296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1"/>
            <p:cNvSpPr txBox="1"/>
            <p:nvPr/>
          </p:nvSpPr>
          <p:spPr>
            <a:xfrm>
              <a:off x="647700" y="1476375"/>
              <a:ext cx="78486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Asset Coverage Analysis</a:t>
              </a:r>
              <a:endParaRPr b="1" sz="14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Status: </a:t>
              </a:r>
              <a:r>
                <a:rPr b="0"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account has excellent asset coverage. All key extensions—including Sitelinks, Callouts, Structured Snippets, Images, and Call Extensions—are actively utilized across the campaigns.</a:t>
              </a:r>
              <a:endParaRPr b="1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Compliance: </a:t>
              </a:r>
              <a:r>
                <a:rPr b="0"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setup is fully compliant with best practices.</a:t>
              </a:r>
              <a:endParaRPr b="1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4" name="Google Shape;274;p11"/>
          <p:cNvGrpSpPr/>
          <p:nvPr/>
        </p:nvGrpSpPr>
        <p:grpSpPr>
          <a:xfrm>
            <a:off x="457200" y="2952750"/>
            <a:ext cx="8229600" cy="1714500"/>
            <a:chOff x="457200" y="2952750"/>
            <a:chExt cx="8229600" cy="1714500"/>
          </a:xfrm>
        </p:grpSpPr>
        <p:sp>
          <p:nvSpPr>
            <p:cNvPr id="275" name="Google Shape;275;p11"/>
            <p:cNvSpPr/>
            <p:nvPr/>
          </p:nvSpPr>
          <p:spPr>
            <a:xfrm>
              <a:off x="457200" y="2952750"/>
              <a:ext cx="8229600" cy="1714500"/>
            </a:xfrm>
            <a:prstGeom prst="roundRect">
              <a:avLst>
                <a:gd fmla="val 6666" name="adj"/>
              </a:avLst>
            </a:prstGeom>
            <a:solidFill>
              <a:srgbClr val="F0FDF4"/>
            </a:solidFill>
            <a:ln cap="flat" cmpd="sng" w="190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 txBox="1"/>
            <p:nvPr/>
          </p:nvSpPr>
          <p:spPr>
            <a:xfrm>
              <a:off x="647700" y="3095625"/>
              <a:ext cx="7848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Optimization Opportunities</a:t>
              </a:r>
              <a:endParaRPr b="1" sz="1400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Critical for Law Firms: </a:t>
              </a:r>
              <a:r>
                <a:rPr b="0" lang="en-US" sz="110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presence of Call Extensions is crucial.</a:t>
              </a:r>
              <a:endParaRPr b="1" sz="1100">
                <a:solidFill>
                  <a:srgbClr val="065F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Best Practice: </a:t>
              </a:r>
              <a:r>
                <a:rPr b="0" lang="en-US" sz="110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Ensure extensions are scheduled to run only during office hours (or when intake is fully available) to avoid paying for missed calls.</a:t>
              </a:r>
              <a:endParaRPr b="1" sz="1100">
                <a:solidFill>
                  <a:srgbClr val="065F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7" name="Google Shape;277;p11"/>
          <p:cNvGrpSpPr/>
          <p:nvPr/>
        </p:nvGrpSpPr>
        <p:grpSpPr>
          <a:xfrm>
            <a:off x="457200" y="4857750"/>
            <a:ext cx="8229600" cy="571500"/>
            <a:chOff x="457200" y="4857750"/>
            <a:chExt cx="8229600" cy="571500"/>
          </a:xfrm>
        </p:grpSpPr>
        <p:sp>
          <p:nvSpPr>
            <p:cNvPr id="278" name="Google Shape;278;p11"/>
            <p:cNvSpPr/>
            <p:nvPr/>
          </p:nvSpPr>
          <p:spPr>
            <a:xfrm>
              <a:off x="457200" y="4857750"/>
              <a:ext cx="8229600" cy="571500"/>
            </a:xfrm>
            <a:prstGeom prst="roundRect">
              <a:avLst>
                <a:gd fmla="val 2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1"/>
            <p:cNvSpPr txBox="1"/>
            <p:nvPr/>
          </p:nvSpPr>
          <p:spPr>
            <a:xfrm>
              <a:off x="647700" y="485775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Summary: Leverage existing excellent coverage while fine-tuning scheduling for maximum lead efficiency.</a:t>
              </a:r>
              <a:endPara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381000" y="209550"/>
            <a:ext cx="4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 b="1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1000125" y="190500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7 - Landing Pages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  <a:endParaRPr b="0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00125" y="619125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90" name="Google Shape;290;p12"/>
          <p:cNvGrpSpPr/>
          <p:nvPr/>
        </p:nvGrpSpPr>
        <p:grpSpPr>
          <a:xfrm>
            <a:off x="457200" y="1333500"/>
            <a:ext cx="3972000" cy="3238500"/>
            <a:chOff x="457200" y="1333500"/>
            <a:chExt cx="3972000" cy="3238500"/>
          </a:xfrm>
        </p:grpSpPr>
        <p:sp>
          <p:nvSpPr>
            <p:cNvPr id="291" name="Google Shape;291;p12"/>
            <p:cNvSpPr/>
            <p:nvPr/>
          </p:nvSpPr>
          <p:spPr>
            <a:xfrm>
              <a:off x="457200" y="1333500"/>
              <a:ext cx="3972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2"/>
            <p:cNvSpPr/>
            <p:nvPr/>
          </p:nvSpPr>
          <p:spPr>
            <a:xfrm>
              <a:off x="457200" y="1333500"/>
              <a:ext cx="3972000" cy="457200"/>
            </a:xfrm>
            <a:prstGeom prst="roundRect">
              <a:avLst>
                <a:gd fmla="val 25000" name="adj"/>
              </a:avLst>
            </a:prstGeom>
            <a:solidFill>
              <a:srgbClr val="FEF2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3" name="Google Shape;29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1676400"/>
              <a:ext cx="3972000" cy="1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12"/>
            <p:cNvSpPr txBox="1"/>
            <p:nvPr/>
          </p:nvSpPr>
          <p:spPr>
            <a:xfrm>
              <a:off x="647700" y="1447800"/>
              <a:ext cx="35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B91C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Truck Disaster (Inefficient)</a:t>
              </a:r>
              <a:endParaRPr b="1" sz="1300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95" name="Google Shape;295;p12"/>
            <p:cNvSpPr txBox="1"/>
            <p:nvPr/>
          </p:nvSpPr>
          <p:spPr>
            <a:xfrm>
              <a:off x="647700" y="1905000"/>
              <a:ext cx="3591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Truck-specific pages have burned over </a:t>
              </a:r>
              <a:r>
                <a:rPr b="1" lang="en-US" sz="1100">
                  <a:solidFill>
                    <a:srgbClr val="B91C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$12,800</a:t>
              </a: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only </a:t>
              </a: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 conversions</a:t>
              </a: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Blended CPA: $4,200+</a:t>
              </a:r>
              <a:endParaRPr b="1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2937"/>
                </a:buClr>
                <a:buSzPts val="1100"/>
                <a:buFont typeface="Montserrat"/>
                <a:buChar char="●"/>
              </a:pP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Pages: truck-accident-lawyer, commercial-truck, 18-wheeler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F2937"/>
                </a:buClr>
                <a:buSzPts val="1100"/>
                <a:buFont typeface="Montserrat"/>
                <a:buChar char="●"/>
              </a:pP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100% Speed Score (Not a UX issue)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1F2937"/>
                </a:buClr>
                <a:buSzPts val="1100"/>
                <a:buFont typeface="Montserrat"/>
                <a:buChar char="●"/>
              </a:pP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Problem: Broad intent &amp; poor traffic quality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96" name="Google Shape;296;p12"/>
          <p:cNvGrpSpPr/>
          <p:nvPr/>
        </p:nvGrpSpPr>
        <p:grpSpPr>
          <a:xfrm>
            <a:off x="4714875" y="1333500"/>
            <a:ext cx="3972000" cy="3238500"/>
            <a:chOff x="4714875" y="1333500"/>
            <a:chExt cx="3972000" cy="3238500"/>
          </a:xfrm>
        </p:grpSpPr>
        <p:sp>
          <p:nvSpPr>
            <p:cNvPr id="297" name="Google Shape;297;p12"/>
            <p:cNvSpPr/>
            <p:nvPr/>
          </p:nvSpPr>
          <p:spPr>
            <a:xfrm>
              <a:off x="4714875" y="1333500"/>
              <a:ext cx="3972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2"/>
            <p:cNvSpPr/>
            <p:nvPr/>
          </p:nvSpPr>
          <p:spPr>
            <a:xfrm>
              <a:off x="4714875" y="1333500"/>
              <a:ext cx="3972000" cy="457200"/>
            </a:xfrm>
            <a:prstGeom prst="roundRect">
              <a:avLst>
                <a:gd fmla="val 25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14875" y="1676400"/>
              <a:ext cx="3972000" cy="1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12"/>
            <p:cNvSpPr txBox="1"/>
            <p:nvPr/>
          </p:nvSpPr>
          <p:spPr>
            <a:xfrm>
              <a:off x="4905375" y="1447800"/>
              <a:ext cx="35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5803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Auto Success (High ROI)</a:t>
              </a:r>
              <a:endParaRPr b="1" sz="1300">
                <a:solidFill>
                  <a:srgbClr val="15803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1" name="Google Shape;301;p12"/>
            <p:cNvSpPr txBox="1"/>
            <p:nvPr/>
          </p:nvSpPr>
          <p:spPr>
            <a:xfrm>
              <a:off x="4905375" y="1905000"/>
              <a:ext cx="3591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 accident pages are highly efficient, capturing high-intent leads.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2937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$66.85 CPA:</a:t>
              </a: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auto-accident-lawyer-california (10 conv.)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F2937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$195.62 CPA:</a:t>
              </a: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/faq variant (4 conv.)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F2937"/>
                </a:buClr>
                <a:buSzPts val="1100"/>
                <a:buFont typeface="Montserrat"/>
                <a:buChar char="●"/>
              </a:pPr>
              <a:r>
                <a:rPr b="1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$568 CPA:</a:t>
              </a:r>
              <a:r>
                <a:rPr b="0" lang="en-US" sz="110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Spanish auto page (abogado-accidentes)</a:t>
              </a:r>
              <a:endParaRPr b="0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Efficiency driven by superior intent matching.</a:t>
              </a:r>
              <a:endParaRPr b="0" i="1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02" name="Google Shape;302;p12"/>
          <p:cNvGrpSpPr/>
          <p:nvPr/>
        </p:nvGrpSpPr>
        <p:grpSpPr>
          <a:xfrm>
            <a:off x="457200" y="4762500"/>
            <a:ext cx="8229600" cy="993394"/>
            <a:chOff x="457200" y="4762500"/>
            <a:chExt cx="8229600" cy="993394"/>
          </a:xfrm>
        </p:grpSpPr>
        <p:sp>
          <p:nvSpPr>
            <p:cNvPr id="303" name="Google Shape;303;p12"/>
            <p:cNvSpPr/>
            <p:nvPr/>
          </p:nvSpPr>
          <p:spPr>
            <a:xfrm>
              <a:off x="457200" y="4762500"/>
              <a:ext cx="8229600" cy="952500"/>
            </a:xfrm>
            <a:prstGeom prst="roundRect">
              <a:avLst>
                <a:gd fmla="val 12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2"/>
            <p:cNvSpPr txBox="1"/>
            <p:nvPr/>
          </p:nvSpPr>
          <p:spPr>
            <a:xfrm>
              <a:off x="838200" y="4803394"/>
              <a:ext cx="457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2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5" name="Google Shape;305;p12"/>
            <p:cNvSpPr txBox="1"/>
            <p:nvPr/>
          </p:nvSpPr>
          <p:spPr>
            <a:xfrm>
              <a:off x="1409700" y="4762500"/>
              <a:ext cx="7086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Strategic Reallocation</a:t>
              </a:r>
              <a:endParaRPr b="1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</a:t>
              </a:r>
              <a:r>
                <a:rPr b="0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ause all Truck landing page traffic. Reallocate 100% of the budget to high-performing Auto Accident URLs to capture high intent at a fraction of the current cost.</a:t>
              </a:r>
              <a:endParaRPr b="0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381000" y="209550"/>
            <a:ext cx="476400" cy="342900"/>
          </a:xfrm>
          <a:prstGeom prst="roundRect">
            <a:avLst>
              <a:gd fmla="val 22222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13"/>
          <p:cNvGrpSpPr/>
          <p:nvPr/>
        </p:nvGrpSpPr>
        <p:grpSpPr>
          <a:xfrm>
            <a:off x="381000" y="190500"/>
            <a:ext cx="7286625" cy="381000"/>
            <a:chOff x="381000" y="190500"/>
            <a:chExt cx="7286625" cy="381000"/>
          </a:xfrm>
        </p:grpSpPr>
        <p:sp>
          <p:nvSpPr>
            <p:cNvPr id="313" name="Google Shape;313;p13"/>
            <p:cNvSpPr txBox="1"/>
            <p:nvPr/>
          </p:nvSpPr>
          <p:spPr>
            <a:xfrm>
              <a:off x="381000" y="209550"/>
              <a:ext cx="476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4" name="Google Shape;314;p13"/>
            <p:cNvSpPr txBox="1"/>
            <p:nvPr/>
          </p:nvSpPr>
          <p:spPr>
            <a:xfrm>
              <a:off x="1000125" y="190500"/>
              <a:ext cx="666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8 - Audit Conclusion</a:t>
              </a:r>
              <a:endParaRPr b="0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15" name="Google Shape;315;p13"/>
          <p:cNvSpPr/>
          <p:nvPr/>
        </p:nvSpPr>
        <p:spPr>
          <a:xfrm>
            <a:off x="1000125" y="619125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457200" y="9048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11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17" name="Google Shape;317;p13"/>
          <p:cNvGrpSpPr/>
          <p:nvPr/>
        </p:nvGrpSpPr>
        <p:grpSpPr>
          <a:xfrm>
            <a:off x="457200" y="1333500"/>
            <a:ext cx="8229600" cy="1143000"/>
            <a:chOff x="457200" y="1333500"/>
            <a:chExt cx="8229600" cy="1143000"/>
          </a:xfrm>
        </p:grpSpPr>
        <p:sp>
          <p:nvSpPr>
            <p:cNvPr id="318" name="Google Shape;318;p13"/>
            <p:cNvSpPr/>
            <p:nvPr/>
          </p:nvSpPr>
          <p:spPr>
            <a:xfrm>
              <a:off x="457200" y="1333500"/>
              <a:ext cx="8229600" cy="1143000"/>
            </a:xfrm>
            <a:prstGeom prst="roundRect">
              <a:avLst>
                <a:gd fmla="val 10000" name="adj"/>
              </a:avLst>
            </a:prstGeom>
            <a:solidFill>
              <a:srgbClr val="FEF2F2"/>
            </a:solidFill>
            <a:ln cap="flat" cmpd="sng" w="1905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 txBox="1"/>
            <p:nvPr/>
          </p:nvSpPr>
          <p:spPr>
            <a:xfrm>
              <a:off x="647700" y="142875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91C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Strategic Misalignment Identified</a:t>
              </a:r>
              <a:endParaRPr b="1" sz="1400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massive CPA spike from $450 to over $3,000 in key campaigns is not a technical failure, but a fundamental misalignment of targeting, structure, and intent.</a:t>
              </a:r>
              <a:endParaRPr sz="110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0" name="Google Shape;320;p13"/>
          <p:cNvGrpSpPr/>
          <p:nvPr/>
        </p:nvGrpSpPr>
        <p:grpSpPr>
          <a:xfrm>
            <a:off x="457200" y="2667000"/>
            <a:ext cx="2610000" cy="2286000"/>
            <a:chOff x="457200" y="2667000"/>
            <a:chExt cx="2610000" cy="2286000"/>
          </a:xfrm>
        </p:grpSpPr>
        <p:sp>
          <p:nvSpPr>
            <p:cNvPr id="321" name="Google Shape;321;p13"/>
            <p:cNvSpPr/>
            <p:nvPr/>
          </p:nvSpPr>
          <p:spPr>
            <a:xfrm>
              <a:off x="457200" y="2667000"/>
              <a:ext cx="2610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3"/>
            <p:cNvSpPr txBox="1"/>
            <p:nvPr/>
          </p:nvSpPr>
          <p:spPr>
            <a:xfrm>
              <a:off x="647700" y="2857500"/>
              <a:ext cx="22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Keyword Bloat</a:t>
              </a:r>
              <a:endParaRPr b="1" sz="12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Dumping 100+ keywords into single ad groups and overlapping match types destroyed ad relevance. Combining this with Maximize Conversions forces the algorithm to buy low-intent junk traffic.</a:t>
              </a:r>
              <a:endParaRPr sz="10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3" name="Google Shape;323;p13"/>
          <p:cNvGrpSpPr/>
          <p:nvPr/>
        </p:nvGrpSpPr>
        <p:grpSpPr>
          <a:xfrm>
            <a:off x="3267075" y="2667000"/>
            <a:ext cx="2610000" cy="2286000"/>
            <a:chOff x="3267075" y="2667000"/>
            <a:chExt cx="2610000" cy="2286000"/>
          </a:xfrm>
        </p:grpSpPr>
        <p:sp>
          <p:nvSpPr>
            <p:cNvPr id="324" name="Google Shape;324;p13"/>
            <p:cNvSpPr/>
            <p:nvPr/>
          </p:nvSpPr>
          <p:spPr>
            <a:xfrm>
              <a:off x="3267075" y="2667000"/>
              <a:ext cx="2610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3"/>
            <p:cNvSpPr txBox="1"/>
            <p:nvPr/>
          </p:nvSpPr>
          <p:spPr>
            <a:xfrm>
              <a:off x="3457575" y="2857500"/>
              <a:ext cx="22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Geographic Failure</a:t>
              </a:r>
              <a:endParaRPr b="1" sz="12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Forcing budget into broad, expensive Geos like Los Angeles failed. Success in 2024 relied on tight "seed" locations that allowed for natural, interest-based expansion.</a:t>
              </a:r>
              <a:endParaRPr sz="10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6" name="Google Shape;326;p13"/>
          <p:cNvGrpSpPr/>
          <p:nvPr/>
        </p:nvGrpSpPr>
        <p:grpSpPr>
          <a:xfrm>
            <a:off x="6076950" y="2667000"/>
            <a:ext cx="2610000" cy="2286000"/>
            <a:chOff x="6076950" y="2667000"/>
            <a:chExt cx="2610000" cy="2286000"/>
          </a:xfrm>
        </p:grpSpPr>
        <p:sp>
          <p:nvSpPr>
            <p:cNvPr id="327" name="Google Shape;327;p13"/>
            <p:cNvSpPr/>
            <p:nvPr/>
          </p:nvSpPr>
          <p:spPr>
            <a:xfrm>
              <a:off x="6076950" y="2667000"/>
              <a:ext cx="26100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3"/>
            <p:cNvSpPr txBox="1"/>
            <p:nvPr/>
          </p:nvSpPr>
          <p:spPr>
            <a:xfrm>
              <a:off x="6267450" y="2857500"/>
              <a:ext cx="2229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Intent Mismatch</a:t>
              </a:r>
              <a:endParaRPr b="1" sz="12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Truck page burned through $12,800 at a $4,200 CPA, while Auto Accident pages converted efficiently at $66-$195 CPA. Intent matching is the core performance driver.</a:t>
              </a:r>
              <a:endParaRPr sz="10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9" name="Google Shape;329;p13"/>
          <p:cNvGrpSpPr/>
          <p:nvPr/>
        </p:nvGrpSpPr>
        <p:grpSpPr>
          <a:xfrm>
            <a:off x="457200" y="5143500"/>
            <a:ext cx="8229600" cy="571500"/>
            <a:chOff x="457200" y="5143500"/>
            <a:chExt cx="8229600" cy="571500"/>
          </a:xfrm>
        </p:grpSpPr>
        <p:sp>
          <p:nvSpPr>
            <p:cNvPr id="330" name="Google Shape;330;p13"/>
            <p:cNvSpPr/>
            <p:nvPr/>
          </p:nvSpPr>
          <p:spPr>
            <a:xfrm>
              <a:off x="457200" y="5143500"/>
              <a:ext cx="8229600" cy="571500"/>
            </a:xfrm>
            <a:prstGeom prst="roundRect">
              <a:avLst>
                <a:gd fmla="val 2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3"/>
            <p:cNvSpPr txBox="1"/>
            <p:nvPr/>
          </p:nvSpPr>
          <p:spPr>
            <a:xfrm>
              <a:off x="647700" y="514350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Verdict: The account is currently funding the wrong strategy.</a:t>
              </a:r>
              <a:endParaRPr b="1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285750" y="152400"/>
            <a:ext cx="381000" cy="266700"/>
          </a:xfrm>
          <a:prstGeom prst="roundRect">
            <a:avLst>
              <a:gd fmla="val 21428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14"/>
          <p:cNvGrpSpPr/>
          <p:nvPr/>
        </p:nvGrpSpPr>
        <p:grpSpPr>
          <a:xfrm>
            <a:off x="285750" y="142875"/>
            <a:ext cx="5238750" cy="285900"/>
            <a:chOff x="285750" y="142875"/>
            <a:chExt cx="5238750" cy="285900"/>
          </a:xfrm>
        </p:grpSpPr>
        <p:sp>
          <p:nvSpPr>
            <p:cNvPr id="339" name="Google Shape;339;p14"/>
            <p:cNvSpPr txBox="1"/>
            <p:nvPr/>
          </p:nvSpPr>
          <p:spPr>
            <a:xfrm>
              <a:off x="285750" y="152400"/>
              <a:ext cx="381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13</a:t>
              </a:r>
              <a:endParaRPr b="1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762000" y="142875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Step 9 - Action Plan</a:t>
              </a:r>
              <a:endParaRPr b="0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41" name="Google Shape;341;p14"/>
          <p:cNvSpPr/>
          <p:nvPr/>
        </p:nvSpPr>
        <p:spPr>
          <a:xfrm>
            <a:off x="762000" y="457200"/>
            <a:ext cx="3810000" cy="28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285750" y="6667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Audit | Google Ads</a:t>
            </a:r>
            <a:endParaRPr b="1" sz="800">
              <a:solidFill>
                <a:srgbClr val="3B82F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3" name="Google Shape;343;p14"/>
          <p:cNvGrpSpPr/>
          <p:nvPr/>
        </p:nvGrpSpPr>
        <p:grpSpPr>
          <a:xfrm>
            <a:off x="381000" y="952500"/>
            <a:ext cx="8382000" cy="904800"/>
            <a:chOff x="381000" y="952500"/>
            <a:chExt cx="8382000" cy="904800"/>
          </a:xfrm>
        </p:grpSpPr>
        <p:sp>
          <p:nvSpPr>
            <p:cNvPr id="344" name="Google Shape;344;p14"/>
            <p:cNvSpPr/>
            <p:nvPr/>
          </p:nvSpPr>
          <p:spPr>
            <a:xfrm>
              <a:off x="381000" y="952500"/>
              <a:ext cx="83820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571500" y="952500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Verify &amp; Optimize Offline Conversions (The Priority)</a:t>
              </a:r>
              <a:endParaRPr b="1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Verify Offline Conversion Tracking (OCT) from GHL. Once confirmed, </a:t>
              </a:r>
              <a:r>
                <a:rPr b="1" lang="en-US" sz="95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gradually shift all campaigns to target "Qualified Leads"</a:t>
              </a:r>
              <a:r>
                <a:rPr b="0" lang="en-US" sz="95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(Retained Cases) to give the algorithm the exact signals it needs.</a:t>
              </a:r>
              <a:endParaRPr b="0" sz="95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46" name="Google Shape;346;p14"/>
          <p:cNvGrpSpPr/>
          <p:nvPr/>
        </p:nvGrpSpPr>
        <p:grpSpPr>
          <a:xfrm>
            <a:off x="381000" y="1952625"/>
            <a:ext cx="8382000" cy="904800"/>
            <a:chOff x="381000" y="1952625"/>
            <a:chExt cx="8382000" cy="904800"/>
          </a:xfrm>
        </p:grpSpPr>
        <p:sp>
          <p:nvSpPr>
            <p:cNvPr id="347" name="Google Shape;347;p14"/>
            <p:cNvSpPr/>
            <p:nvPr/>
          </p:nvSpPr>
          <p:spPr>
            <a:xfrm>
              <a:off x="381000" y="1952625"/>
              <a:ext cx="8382000" cy="904800"/>
            </a:xfrm>
            <a:prstGeom prst="roundRect">
              <a:avLst>
                <a:gd fmla="val 8421" name="adj"/>
              </a:avLst>
            </a:prstGeom>
            <a:solidFill>
              <a:srgbClr val="F0FDF4"/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 txBox="1"/>
            <p:nvPr/>
          </p:nvSpPr>
          <p:spPr>
            <a:xfrm>
              <a:off x="571500" y="1952625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Reallocate Budget to "Auto" Winners</a:t>
              </a:r>
              <a:endParaRPr b="1" sz="1100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Immediately pause all traffic to failing Truck pages (</a:t>
              </a:r>
              <a:r>
                <a:rPr b="0" lang="en-US" sz="850">
                  <a:solidFill>
                    <a:srgbClr val="A315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go.</a:t>
              </a:r>
              <a:r>
                <a:rPr b="0" lang="en-US" sz="95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and </a:t>
              </a:r>
              <a:r>
                <a:rPr b="0" lang="en-US" sz="850">
                  <a:solidFill>
                    <a:srgbClr val="A315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commercial-truck</a:t>
              </a:r>
              <a:r>
                <a:rPr b="0" lang="en-US" sz="95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). Reallocate budget entirely to proven pages: </a:t>
              </a:r>
              <a:r>
                <a:rPr b="0" lang="en-US" sz="850">
                  <a:solidFill>
                    <a:srgbClr val="A315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auto-accident-lawyer-california</a:t>
              </a:r>
              <a:r>
                <a:rPr b="0" lang="en-US" sz="95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and </a:t>
              </a:r>
              <a:r>
                <a:rPr b="0" lang="en-US" sz="850">
                  <a:solidFill>
                    <a:srgbClr val="A3151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/faq</a:t>
              </a:r>
              <a:r>
                <a:rPr b="0" lang="en-US" sz="950">
                  <a:solidFill>
                    <a:srgbClr val="065F4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sz="950">
                <a:solidFill>
                  <a:srgbClr val="065F4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49" name="Google Shape;349;p14"/>
          <p:cNvGrpSpPr/>
          <p:nvPr/>
        </p:nvGrpSpPr>
        <p:grpSpPr>
          <a:xfrm>
            <a:off x="381000" y="2952750"/>
            <a:ext cx="8382000" cy="904800"/>
            <a:chOff x="381000" y="2952750"/>
            <a:chExt cx="8382000" cy="904800"/>
          </a:xfrm>
        </p:grpSpPr>
        <p:sp>
          <p:nvSpPr>
            <p:cNvPr id="350" name="Google Shape;350;p14"/>
            <p:cNvSpPr/>
            <p:nvPr/>
          </p:nvSpPr>
          <p:spPr>
            <a:xfrm>
              <a:off x="381000" y="2952750"/>
              <a:ext cx="83820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4"/>
            <p:cNvSpPr txBox="1"/>
            <p:nvPr/>
          </p:nvSpPr>
          <p:spPr>
            <a:xfrm>
              <a:off x="571500" y="2952750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Restructure Semantics &amp; Bidding</a:t>
              </a:r>
              <a:endParaRPr b="1" sz="1100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Break down 100+ keyword ad groups into tight, High-Intent clusters. Implement Alpha/Beta structure or transition exclusively to Phrase match on </a:t>
              </a:r>
              <a:r>
                <a:rPr b="1" lang="en-US" sz="95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CPA</a:t>
              </a:r>
              <a:r>
                <a:rPr b="0" lang="en-US" sz="950">
                  <a:solidFill>
                    <a:srgbClr val="1F293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sz="95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2" name="Google Shape;352;p14"/>
          <p:cNvGrpSpPr/>
          <p:nvPr/>
        </p:nvGrpSpPr>
        <p:grpSpPr>
          <a:xfrm>
            <a:off x="381000" y="3952875"/>
            <a:ext cx="8382000" cy="904800"/>
            <a:chOff x="381000" y="3952875"/>
            <a:chExt cx="8382000" cy="904800"/>
          </a:xfrm>
        </p:grpSpPr>
        <p:sp>
          <p:nvSpPr>
            <p:cNvPr id="353" name="Google Shape;353;p14"/>
            <p:cNvSpPr/>
            <p:nvPr/>
          </p:nvSpPr>
          <p:spPr>
            <a:xfrm>
              <a:off x="381000" y="3952875"/>
              <a:ext cx="8382000" cy="904800"/>
            </a:xfrm>
            <a:prstGeom prst="roundRect">
              <a:avLst>
                <a:gd fmla="val 8421" name="adj"/>
              </a:avLst>
            </a:prstGeom>
            <a:solidFill>
              <a:srgbClr val="FEF2F2"/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4"/>
            <p:cNvSpPr txBox="1"/>
            <p:nvPr/>
          </p:nvSpPr>
          <p:spPr>
            <a:xfrm>
              <a:off x="571500" y="3952875"/>
              <a:ext cx="80010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4. Revert Geographic Strategy &amp; Clean Traffic</a:t>
              </a:r>
              <a:endParaRPr b="1" sz="1100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91B1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Stop budget bleed in broad LA and Glendale. Reinstate tight "seed" targets (e.g., North Hollywood). Add generic "Truck" terms to global negative lists immediately.</a:t>
              </a:r>
              <a:endParaRPr b="0" sz="950">
                <a:solidFill>
                  <a:srgbClr val="991B1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